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2"/>
    <p:sldId id="554" r:id="rId3"/>
    <p:sldId id="561" r:id="rId4"/>
    <p:sldId id="556" r:id="rId5"/>
    <p:sldId id="557" r:id="rId6"/>
    <p:sldId id="559" r:id="rId7"/>
    <p:sldId id="558" r:id="rId8"/>
    <p:sldId id="560" r:id="rId9"/>
  </p:sldIdLst>
  <p:sldSz cx="12192000" cy="6858000"/>
  <p:notesSz cx="6858000" cy="9144000"/>
  <p:custDataLst>
    <p:tags r:id="rId1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FF"/>
    <a:srgbClr val="FF9999"/>
    <a:srgbClr val="FFFFCC"/>
    <a:srgbClr val="CCFFFF"/>
    <a:srgbClr val="A50021"/>
    <a:srgbClr val="FFFF00"/>
    <a:srgbClr val="CCCCFF"/>
    <a:srgbClr val="FF0000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99" autoAdjust="0"/>
    <p:restoredTop sz="89268" autoAdjust="0"/>
  </p:normalViewPr>
  <p:slideViewPr>
    <p:cSldViewPr showGuides="1">
      <p:cViewPr varScale="1">
        <p:scale>
          <a:sx n="114" d="100"/>
          <a:sy n="114" d="100"/>
        </p:scale>
        <p:origin x="366" y="102"/>
      </p:cViewPr>
      <p:guideLst>
        <p:guide orient="horz" pos="2105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4499D8E-CC18-4CB8-9DFF-1A7DEE6AB5B1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93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81D8D5E-F36B-4E94-A12A-0353F90BE98E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5B85F5-3CD0-4EDB-8DB8-3C6B3A4CEDBF}" type="slidenum">
              <a:rPr lang="en-US" altLang="zh-CN" smtClean="0"/>
              <a:t>1</a:t>
            </a:fld>
            <a:endParaRPr lang="en-US" altLang="zh-CN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1"/>
            <a:ext cx="12192000" cy="5445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6165850"/>
            <a:ext cx="12192000" cy="647700"/>
          </a:xfrm>
          <a:prstGeom prst="rect">
            <a:avLst/>
          </a:prstGeom>
          <a:solidFill>
            <a:schemeClr val="accent1">
              <a:alpha val="10001"/>
            </a:schemeClr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chemeClr val="bg1">
                  <a:alpha val="32001"/>
                </a:schemeClr>
              </a:gs>
              <a:gs pos="100000">
                <a:srgbClr val="09E733">
                  <a:alpha val="20000"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0" y="908050"/>
            <a:ext cx="12192000" cy="287338"/>
          </a:xfrm>
          <a:prstGeom prst="rect">
            <a:avLst/>
          </a:prstGeom>
          <a:gradFill rotWithShape="1">
            <a:gsLst>
              <a:gs pos="0">
                <a:schemeClr val="bg1">
                  <a:alpha val="39999"/>
                </a:schemeClr>
              </a:gs>
              <a:gs pos="100000">
                <a:srgbClr val="008000">
                  <a:alpha val="80000"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pic>
        <p:nvPicPr>
          <p:cNvPr id="9" name="Picture 13" descr="logo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4635500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02784" y="1412876"/>
            <a:ext cx="10363200" cy="2043113"/>
          </a:xfrm>
        </p:spPr>
        <p:txBody>
          <a:bodyPr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60045">
              <a:spcBef>
                <a:spcPts val="600"/>
              </a:spcBef>
              <a:spcAft>
                <a:spcPts val="600"/>
              </a:spcAft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spcBef>
                <a:spcPts val="600"/>
              </a:spcBef>
              <a:spcAft>
                <a:spcPts val="600"/>
              </a:spcAft>
              <a:defRPr b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 sz="2200" b="0">
                <a:latin typeface="宋体" panose="02010600030101010101" pitchFamily="2" charset="-122"/>
                <a:ea typeface="宋体" panose="02010600030101010101" pitchFamily="2" charset="-122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AC8BA3-7413-4A42-9C4A-71E816FB9B1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3E0D30-94DD-43BB-9AF6-492010A512B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78368" y="1187450"/>
            <a:ext cx="5602817" cy="4908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84384" y="1187450"/>
            <a:ext cx="5602816" cy="4908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7611A8-426E-4951-B3E2-C86A50981A1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ADB91-DA35-4B1F-8A7A-5C9F0347B0C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F4DC43-0A1A-4E5E-8DBE-254066E50FF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97DAFE-F047-42EA-B47B-F454BB99D8D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76D72-2876-4942-880B-CE7F68A232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B1D742-5A67-4500-8134-3CEB729EB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A57203-E0FD-40D8-B433-DC91F710D32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36051" y="228600"/>
            <a:ext cx="2851149" cy="5867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78367" y="228600"/>
            <a:ext cx="8354484" cy="5867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1D31ED-BC9D-4D8F-8EB5-2496EB6B0CC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9334" y="228600"/>
            <a:ext cx="8496300" cy="647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78368" y="1187450"/>
            <a:ext cx="5602817" cy="49085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84384" y="1187450"/>
            <a:ext cx="5602816" cy="49085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BB3342-0F60-4D95-B7B1-CD8D58D7E8E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8368" y="990600"/>
            <a:ext cx="11408833" cy="5105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 rot="10800000">
            <a:off x="1" y="0"/>
            <a:ext cx="12181417" cy="762000"/>
          </a:xfrm>
          <a:prstGeom prst="rect">
            <a:avLst/>
          </a:prstGeom>
          <a:gradFill rotWithShape="1">
            <a:gsLst>
              <a:gs pos="0">
                <a:schemeClr val="bg1">
                  <a:alpha val="10001"/>
                </a:schemeClr>
              </a:gs>
              <a:gs pos="100000">
                <a:srgbClr val="09E733">
                  <a:alpha val="21001"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5368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439334" y="76200"/>
            <a:ext cx="8496300" cy="647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8204" name="Rectangle 12"/>
          <p:cNvSpPr>
            <a:spLocks noChangeArrowheads="1"/>
          </p:cNvSpPr>
          <p:nvPr/>
        </p:nvSpPr>
        <p:spPr bwMode="auto">
          <a:xfrm rot="10800000">
            <a:off x="0" y="762000"/>
            <a:ext cx="12192000" cy="46038"/>
          </a:xfrm>
          <a:prstGeom prst="rect">
            <a:avLst/>
          </a:prstGeom>
          <a:gradFill rotWithShape="1">
            <a:gsLst>
              <a:gs pos="0">
                <a:srgbClr val="00CC00">
                  <a:alpha val="35001"/>
                </a:srgbClr>
              </a:gs>
              <a:gs pos="100000">
                <a:srgbClr val="00CC00">
                  <a:gamma/>
                  <a:shade val="46275"/>
                  <a:invGamma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8207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81750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180BB5F-24B5-437F-BC7B-1BDE08C0A03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6600"/>
        </a:buClr>
        <a:buSzPct val="75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8000"/>
        </a:buClr>
        <a:buSzPct val="70000"/>
        <a:buFont typeface="Wingdings" panose="05000000000000000000" pitchFamily="2" charset="2"/>
        <a:buChar char="Ø"/>
        <a:defRPr sz="2400" b="1">
          <a:solidFill>
            <a:schemeClr val="accent2"/>
          </a:solidFill>
          <a:latin typeface="+mn-lt"/>
          <a:ea typeface="楷体_GB2312" pitchFamily="49" charset="-122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8000"/>
        </a:buClr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8000"/>
        </a:buClr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j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05000" y="1600201"/>
            <a:ext cx="8534400" cy="1470025"/>
          </a:xfrm>
        </p:spPr>
        <p:txBody>
          <a:bodyPr/>
          <a:lstStyle/>
          <a:p>
            <a:pPr eaLnBrk="1" hangingPunct="1"/>
            <a:r>
              <a:rPr lang="zh-CN" altLang="en-US" sz="3200" dirty="0"/>
              <a:t>软件测试与质量保证</a:t>
            </a:r>
            <a:br>
              <a:rPr lang="en-US" altLang="zh-CN" sz="3200" dirty="0"/>
            </a:br>
            <a:r>
              <a:rPr lang="zh-CN" altLang="en-US" sz="3200" dirty="0"/>
              <a:t>上机安排</a:t>
            </a:r>
            <a:endParaRPr lang="en-US" altLang="zh-CN" sz="3200" dirty="0"/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3886200" y="4851400"/>
            <a:ext cx="45720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i="0" dirty="0">
                <a:ea typeface="楷体_GB2312" pitchFamily="49" charset="-122"/>
              </a:rPr>
              <a:t>软件工程系</a:t>
            </a: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3860800" y="4064000"/>
            <a:ext cx="45720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i="0" dirty="0">
                <a:ea typeface="楷体_GB2312" pitchFamily="49" charset="-122"/>
              </a:rPr>
              <a:t>董玉坤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上机</a:t>
            </a:r>
            <a:r>
              <a:rPr lang="en-US" altLang="zh-CN" dirty="0"/>
              <a:t>1</a:t>
            </a:r>
            <a:r>
              <a:rPr lang="zh-CN" altLang="en-US" dirty="0"/>
              <a:t>：软件质量需求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ym typeface="+mn-ea"/>
              </a:rPr>
              <a:t>针对所做软件项目的需求规格说明书，根据</a:t>
            </a:r>
            <a:r>
              <a:rPr lang="zh-CN" altLang="en-US" sz="2800" dirty="0">
                <a:solidFill>
                  <a:srgbClr val="C00000"/>
                </a:solidFill>
                <a:sym typeface="+mn-ea"/>
              </a:rPr>
              <a:t>ISO/IEC 25010:20</a:t>
            </a:r>
            <a:r>
              <a:rPr lang="en-US" altLang="zh-CN" sz="2800" dirty="0">
                <a:solidFill>
                  <a:srgbClr val="C00000"/>
                </a:solidFill>
                <a:sym typeface="+mn-ea"/>
              </a:rPr>
              <a:t>23</a:t>
            </a:r>
            <a:r>
              <a:rPr lang="zh-CN" altLang="en-US" sz="2800" dirty="0">
                <a:sym typeface="+mn-ea"/>
              </a:rPr>
              <a:t>质量模型，给出在</a:t>
            </a:r>
            <a:r>
              <a:rPr lang="en-US" altLang="zh-CN" sz="2800" dirty="0">
                <a:sym typeface="+mn-ea"/>
              </a:rPr>
              <a:t>9</a:t>
            </a:r>
            <a:r>
              <a:rPr lang="zh-CN" altLang="en-US" sz="2800" dirty="0">
                <a:sym typeface="+mn-ea"/>
              </a:rPr>
              <a:t>个质量特性、</a:t>
            </a:r>
            <a:r>
              <a:rPr lang="en-US" altLang="zh-CN" sz="2800" dirty="0">
                <a:sym typeface="+mn-ea"/>
              </a:rPr>
              <a:t>40</a:t>
            </a:r>
            <a:r>
              <a:rPr lang="zh-CN" altLang="en-US" sz="2800" dirty="0">
                <a:sym typeface="+mn-ea"/>
              </a:rPr>
              <a:t>个质量子特性的质量需求。其中以下质量特性特别要求：</a:t>
            </a:r>
          </a:p>
          <a:p>
            <a:pPr lvl="1"/>
            <a:r>
              <a:rPr lang="zh-CN" altLang="en-US" sz="2800" dirty="0">
                <a:sym typeface="+mn-ea"/>
              </a:rPr>
              <a:t>功能：功能正确性（至少</a:t>
            </a:r>
            <a:r>
              <a:rPr lang="en-US" altLang="zh-CN" sz="2800" dirty="0">
                <a:sym typeface="+mn-ea"/>
              </a:rPr>
              <a:t>3</a:t>
            </a:r>
            <a:r>
              <a:rPr lang="zh-CN" altLang="en-US" sz="2800" dirty="0">
                <a:sym typeface="+mn-ea"/>
              </a:rPr>
              <a:t>条）</a:t>
            </a:r>
          </a:p>
          <a:p>
            <a:pPr lvl="1"/>
            <a:r>
              <a:rPr lang="zh-CN" altLang="en-US" sz="2800" dirty="0">
                <a:sym typeface="+mn-ea"/>
              </a:rPr>
              <a:t>可靠性（尽可能量化，给出必要的原因解释）</a:t>
            </a:r>
          </a:p>
          <a:p>
            <a:pPr lvl="1"/>
            <a:r>
              <a:rPr lang="zh-CN" altLang="en-US" sz="2800" dirty="0">
                <a:sym typeface="+mn-ea"/>
              </a:rPr>
              <a:t>性能效率（尽可能量化，给出必要的原因解释）</a:t>
            </a:r>
          </a:p>
          <a:p>
            <a:pPr lvl="1"/>
            <a:r>
              <a:rPr lang="zh-CN" altLang="en-US" sz="2800" dirty="0">
                <a:sym typeface="+mn-ea"/>
              </a:rPr>
              <a:t>安全性（识别出出现安全故障后可能存在的风险）</a:t>
            </a:r>
          </a:p>
          <a:p>
            <a:pPr lvl="1"/>
            <a:r>
              <a:rPr lang="zh-CN" altLang="en-US" sz="2800" dirty="0">
                <a:sym typeface="+mn-ea"/>
              </a:rPr>
              <a:t>兼容性（给出至少兼容</a:t>
            </a:r>
            <a:r>
              <a:rPr lang="en-US" altLang="zh-CN" sz="2800" dirty="0">
                <a:sym typeface="+mn-ea"/>
              </a:rPr>
              <a:t>3</a:t>
            </a:r>
            <a:r>
              <a:rPr lang="zh-CN" altLang="en-US" sz="2800" dirty="0">
                <a:sym typeface="+mn-ea"/>
              </a:rPr>
              <a:t>个软件的必要性）</a:t>
            </a:r>
          </a:p>
          <a:p>
            <a:pPr lvl="1"/>
            <a:r>
              <a:rPr lang="en-US" altLang="zh-CN" sz="2800" dirty="0">
                <a:sym typeface="+mn-ea"/>
              </a:rPr>
              <a:t>...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fld id="{C4AC8BA3-7413-4A42-9C4A-71E816FB9B13}" type="slidenum">
              <a:rPr lang="en-US" altLang="zh-CN"/>
              <a:t>2</a:t>
            </a:fld>
            <a:endParaRPr lang="en-US" altLang="zh-CN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073B66-3B54-401C-A0CE-8A6DA8793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/>
              <a:t>、软件测试</a:t>
            </a:r>
            <a:r>
              <a:rPr lang="zh-CN" altLang="en-US" dirty="0"/>
              <a:t>管理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C317F1-4763-4194-BFBD-AFD67FC6D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软件测试管理工具</a:t>
            </a:r>
            <a:r>
              <a:rPr lang="en-US" altLang="zh-CN" dirty="0" err="1"/>
              <a:t>TestLink</a:t>
            </a:r>
            <a:r>
              <a:rPr lang="en-US" altLang="zh-CN" dirty="0"/>
              <a:t>/</a:t>
            </a:r>
            <a:r>
              <a:rPr lang="en-US" altLang="zh-CN" dirty="0" err="1"/>
              <a:t>TestCenter</a:t>
            </a:r>
            <a:endParaRPr lang="en-US" altLang="zh-CN" dirty="0"/>
          </a:p>
          <a:p>
            <a:pPr lvl="1"/>
            <a:r>
              <a:rPr lang="zh-CN" altLang="en-US" dirty="0"/>
              <a:t>两个工具任选一个</a:t>
            </a:r>
            <a:endParaRPr lang="en-US" altLang="zh-CN" dirty="0"/>
          </a:p>
          <a:p>
            <a:pPr lvl="1"/>
            <a:r>
              <a:rPr lang="en-US" altLang="zh-CN" dirty="0" err="1"/>
              <a:t>TestLink</a:t>
            </a:r>
            <a:r>
              <a:rPr lang="zh-CN" altLang="en-US" dirty="0"/>
              <a:t>是开源工具，需要自己安装</a:t>
            </a:r>
            <a:endParaRPr lang="en-US" altLang="zh-CN" dirty="0"/>
          </a:p>
          <a:p>
            <a:pPr lvl="1"/>
            <a:r>
              <a:rPr lang="en-US" altLang="zh-CN" dirty="0" err="1"/>
              <a:t>TestCenter</a:t>
            </a:r>
            <a:r>
              <a:rPr lang="zh-CN" altLang="en-US" dirty="0"/>
              <a:t>是国产商业工具，可以使用在线试用版</a:t>
            </a:r>
            <a:endParaRPr lang="en-US" altLang="zh-CN" dirty="0"/>
          </a:p>
          <a:p>
            <a:r>
              <a:rPr lang="zh-CN" altLang="en-US" dirty="0"/>
              <a:t>软件测试计划</a:t>
            </a:r>
            <a:endParaRPr lang="en-US" altLang="zh-CN" dirty="0"/>
          </a:p>
          <a:p>
            <a:pPr lvl="1"/>
            <a:r>
              <a:rPr lang="zh-CN" altLang="en-US" dirty="0"/>
              <a:t>参考教材</a:t>
            </a:r>
            <a:r>
              <a:rPr lang="en-US" altLang="zh-CN" dirty="0"/>
              <a:t>3.4</a:t>
            </a:r>
            <a:r>
              <a:rPr lang="zh-CN" altLang="en-US" dirty="0"/>
              <a:t>节案例，制定暑期所做系统的 系统测试计划</a:t>
            </a:r>
            <a:endParaRPr lang="en-US" altLang="zh-CN" dirty="0"/>
          </a:p>
          <a:p>
            <a:pPr lvl="1"/>
            <a:r>
              <a:rPr lang="zh-CN" altLang="en-US" dirty="0"/>
              <a:t>一个小组同学可以共同完成一个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60E3B7-E778-440D-A260-11A8650980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fld id="{C4AC8BA3-7413-4A42-9C4A-71E816FB9B13}" type="slidenum">
              <a:rPr lang="en-US" altLang="zh-CN" smtClean="0"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92908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上机</a:t>
            </a:r>
            <a:r>
              <a:rPr lang="en-US" altLang="zh-CN" dirty="0"/>
              <a:t>3</a:t>
            </a:r>
            <a:r>
              <a:rPr lang="zh-CN" altLang="en-US" dirty="0"/>
              <a:t>：单元测试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基于</a:t>
            </a:r>
            <a:r>
              <a:rPr lang="en-US" altLang="zh-CN" dirty="0"/>
              <a:t>JUnit</a:t>
            </a:r>
            <a:r>
              <a:rPr lang="zh-CN" altLang="zh-CN" dirty="0"/>
              <a:t>的单元测试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Eclipse</a:t>
            </a:r>
            <a:r>
              <a:rPr lang="zh-CN" altLang="en-US" dirty="0"/>
              <a:t>或</a:t>
            </a:r>
            <a:r>
              <a:rPr lang="en-US" altLang="zh-CN" dirty="0"/>
              <a:t>IDEA</a:t>
            </a:r>
            <a:r>
              <a:rPr lang="zh-CN" altLang="en-US" dirty="0"/>
              <a:t>工具下安装</a:t>
            </a:r>
            <a:r>
              <a:rPr lang="en-US" altLang="zh-CN" dirty="0"/>
              <a:t>Junit</a:t>
            </a:r>
            <a:r>
              <a:rPr lang="zh-CN" altLang="en-US" dirty="0"/>
              <a:t>插件</a:t>
            </a:r>
            <a:endParaRPr lang="en-US" altLang="zh-CN" dirty="0"/>
          </a:p>
          <a:p>
            <a:pPr lvl="1"/>
            <a:r>
              <a:rPr lang="zh-CN" altLang="en-US" dirty="0"/>
              <a:t>针对暑期项目中程序设计单元测试用例</a:t>
            </a:r>
            <a:endParaRPr lang="en-US" altLang="zh-CN" dirty="0"/>
          </a:p>
          <a:p>
            <a:r>
              <a:rPr lang="en-US" altLang="zh-CN" dirty="0" err="1"/>
              <a:t>JUnit+Mockiot</a:t>
            </a:r>
            <a:endParaRPr lang="en-US" altLang="zh-CN" dirty="0"/>
          </a:p>
          <a:p>
            <a:pPr lvl="1"/>
            <a:r>
              <a:rPr lang="zh-CN" altLang="en-US" dirty="0"/>
              <a:t>针对暑期项目中有较复杂调用关系的程序单元设计测试用例</a:t>
            </a:r>
            <a:endParaRPr lang="en-US" altLang="zh-CN" dirty="0"/>
          </a:p>
          <a:p>
            <a:r>
              <a:rPr lang="en-US" altLang="zh-CN" dirty="0" err="1"/>
              <a:t>Jacoco</a:t>
            </a:r>
            <a:r>
              <a:rPr lang="zh-CN" altLang="zh-CN" dirty="0"/>
              <a:t>进行测试覆盖</a:t>
            </a:r>
            <a:endParaRPr lang="en-US" altLang="zh-CN" dirty="0"/>
          </a:p>
          <a:p>
            <a:pPr lvl="1"/>
            <a:r>
              <a:rPr lang="zh-CN" altLang="en-US" dirty="0"/>
              <a:t>设计满足语句覆盖、分支覆盖、基本路径覆盖的测试用例</a:t>
            </a:r>
            <a:endParaRPr lang="en-US" altLang="zh-CN" dirty="0"/>
          </a:p>
          <a:p>
            <a:pPr lvl="1"/>
            <a:r>
              <a:rPr lang="zh-CN" altLang="en-US" dirty="0"/>
              <a:t>应用</a:t>
            </a:r>
            <a:r>
              <a:rPr lang="en-US" altLang="zh-CN" dirty="0" err="1"/>
              <a:t>Jacoco</a:t>
            </a:r>
            <a:r>
              <a:rPr lang="zh-CN" altLang="en-US" dirty="0"/>
              <a:t>进行测试覆盖率统计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fld id="{C4AC8BA3-7413-4A42-9C4A-71E816FB9B13}" type="slidenum">
              <a:rPr lang="en-US" altLang="zh-CN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663869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上机</a:t>
            </a:r>
            <a:r>
              <a:rPr lang="en-US" altLang="zh-CN" dirty="0"/>
              <a:t>4</a:t>
            </a:r>
            <a:r>
              <a:rPr lang="zh-CN" altLang="en-US" dirty="0"/>
              <a:t>：静态分析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阿里编程规约扫描</a:t>
            </a:r>
            <a:endParaRPr lang="en-US" altLang="zh-CN" dirty="0"/>
          </a:p>
          <a:p>
            <a:pPr lvl="1"/>
            <a:r>
              <a:rPr lang="zh-CN" altLang="en-US" dirty="0"/>
              <a:t>了解阿里</a:t>
            </a:r>
            <a:r>
              <a:rPr lang="en-US" altLang="zh-CN" dirty="0"/>
              <a:t>Java</a:t>
            </a:r>
            <a:r>
              <a:rPr lang="zh-CN" altLang="en-US" dirty="0"/>
              <a:t>编程规范</a:t>
            </a:r>
            <a:endParaRPr lang="en-US" altLang="zh-CN" dirty="0"/>
          </a:p>
          <a:p>
            <a:pPr lvl="1"/>
            <a:r>
              <a:rPr lang="zh-CN" altLang="en-US" dirty="0"/>
              <a:t>应用</a:t>
            </a:r>
            <a:r>
              <a:rPr lang="en-US" altLang="zh-CN" dirty="0"/>
              <a:t>Alibaba Java Coding Guidelines</a:t>
            </a:r>
            <a:r>
              <a:rPr lang="zh-CN" altLang="en-US" dirty="0"/>
              <a:t>进行</a:t>
            </a:r>
            <a:r>
              <a:rPr lang="en-US" altLang="zh-CN" dirty="0"/>
              <a:t>Java</a:t>
            </a:r>
            <a:r>
              <a:rPr lang="zh-CN" altLang="en-US" dirty="0"/>
              <a:t>程序的代码检测</a:t>
            </a:r>
            <a:endParaRPr lang="en-US" altLang="zh-CN" dirty="0"/>
          </a:p>
          <a:p>
            <a:r>
              <a:rPr lang="zh-CN" altLang="zh-CN" dirty="0"/>
              <a:t>应用</a:t>
            </a:r>
            <a:r>
              <a:rPr lang="en-US" altLang="zh-CN" dirty="0" err="1"/>
              <a:t>Findbugs</a:t>
            </a:r>
            <a:r>
              <a:rPr lang="zh-CN" altLang="zh-CN" dirty="0"/>
              <a:t>进行</a:t>
            </a:r>
            <a:r>
              <a:rPr lang="en-US" altLang="zh-CN" dirty="0"/>
              <a:t>Java</a:t>
            </a:r>
            <a:r>
              <a:rPr lang="zh-CN" altLang="zh-CN" dirty="0"/>
              <a:t>代码分析</a:t>
            </a:r>
            <a:endParaRPr lang="en-US" altLang="zh-CN" dirty="0"/>
          </a:p>
          <a:p>
            <a:pPr lvl="1"/>
            <a:r>
              <a:rPr lang="zh-CN" altLang="zh-CN" dirty="0"/>
              <a:t>应用</a:t>
            </a:r>
            <a:r>
              <a:rPr lang="en-US" altLang="zh-CN" dirty="0" err="1"/>
              <a:t>Findbugs</a:t>
            </a:r>
            <a:r>
              <a:rPr lang="zh-CN" altLang="zh-CN" dirty="0"/>
              <a:t>进行</a:t>
            </a:r>
            <a:r>
              <a:rPr lang="en-US" altLang="zh-CN" dirty="0"/>
              <a:t>Java</a:t>
            </a:r>
            <a:r>
              <a:rPr lang="zh-CN" altLang="zh-CN" dirty="0"/>
              <a:t>代码</a:t>
            </a:r>
            <a:r>
              <a:rPr lang="zh-CN" altLang="en-US" dirty="0"/>
              <a:t>缺陷检测</a:t>
            </a:r>
            <a:endParaRPr lang="en-US" altLang="zh-CN" dirty="0"/>
          </a:p>
          <a:p>
            <a:pPr lvl="1"/>
            <a:r>
              <a:rPr lang="zh-CN" altLang="en-US" dirty="0"/>
              <a:t>对检测的缺陷进行人工核查，统计误报率</a:t>
            </a:r>
            <a:endParaRPr lang="en-US" altLang="zh-CN" dirty="0"/>
          </a:p>
          <a:p>
            <a:pPr lvl="1"/>
            <a:r>
              <a:rPr lang="zh-CN" altLang="en-US" dirty="0"/>
              <a:t>对核查是缺陷的，进行缺陷修复，修复后重新进行检查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fld id="{C4AC8BA3-7413-4A42-9C4A-71E816FB9B13}" type="slidenum">
              <a:rPr lang="en-US" altLang="zh-CN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422014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上机</a:t>
            </a:r>
            <a:r>
              <a:rPr lang="en-US" altLang="zh-CN" dirty="0"/>
              <a:t>5</a:t>
            </a:r>
            <a:r>
              <a:rPr lang="zh-CN" altLang="en-US" dirty="0"/>
              <a:t>：</a:t>
            </a:r>
            <a:r>
              <a:rPr lang="en-US" altLang="zh-CN" dirty="0"/>
              <a:t>Postman</a:t>
            </a:r>
            <a:r>
              <a:rPr lang="zh-CN" altLang="zh-CN" dirty="0"/>
              <a:t>进行接口测试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Postman</a:t>
            </a:r>
            <a:r>
              <a:rPr lang="zh-CN" altLang="zh-CN" dirty="0"/>
              <a:t>进行接口测试</a:t>
            </a:r>
            <a:endParaRPr lang="en-US" altLang="zh-CN" dirty="0"/>
          </a:p>
          <a:p>
            <a:r>
              <a:rPr lang="zh-CN" altLang="en-US" dirty="0"/>
              <a:t>完成至少</a:t>
            </a:r>
            <a:r>
              <a:rPr lang="en-US" altLang="zh-CN" dirty="0"/>
              <a:t>3</a:t>
            </a:r>
            <a:r>
              <a:rPr lang="zh-CN" altLang="en-US" dirty="0"/>
              <a:t>个服务接口的测试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fld id="{C4AC8BA3-7413-4A42-9C4A-71E816FB9B13}" type="slidenum">
              <a:rPr lang="en-US" altLang="zh-CN"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971863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上机</a:t>
            </a:r>
            <a:r>
              <a:rPr lang="en-US" altLang="zh-CN" dirty="0"/>
              <a:t>6</a:t>
            </a:r>
            <a:r>
              <a:rPr lang="zh-CN" altLang="en-US" dirty="0"/>
              <a:t>：</a:t>
            </a:r>
            <a:r>
              <a:rPr lang="en-US" altLang="zh-CN" dirty="0" err="1"/>
              <a:t>Jmeter</a:t>
            </a:r>
            <a:r>
              <a:rPr lang="zh-CN" altLang="zh-CN" dirty="0"/>
              <a:t>与</a:t>
            </a:r>
            <a:r>
              <a:rPr lang="en-US" altLang="zh-CN" dirty="0" err="1"/>
              <a:t>Badboy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zh-CN" dirty="0"/>
              <a:t>与</a:t>
            </a:r>
            <a:r>
              <a:rPr lang="en-US" altLang="zh-CN" dirty="0" err="1"/>
              <a:t>Badboy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fld id="{C4AC8BA3-7413-4A42-9C4A-71E816FB9B13}" type="slidenum">
              <a:rPr lang="en-US" altLang="zh-CN"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461409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5A9E17-001F-4597-ACDA-D91C7AA4F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系统测试报告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90888A-DC87-4E9D-AC1F-11C36217A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EBA7853-1E7C-4D7B-8247-AFF0606590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fld id="{C4AC8BA3-7413-4A42-9C4A-71E816FB9B13}" type="slidenum">
              <a:rPr lang="en-US" altLang="zh-CN" smtClean="0"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4014227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OC_GUID" val="{4926d8d4-6dcb-4bbb-85a0-902ddbc4387d}"/>
  <p:tag name="KSO_WPP_MARK_KEY" val="52d61dae-4ae0-4781-88b1-927c5dbbeca2"/>
  <p:tag name="COMMONDATA" val="eyJoZGlkIjoiNGVhMGEzMzFmYzE0NDk3ZTNmMGYzOThhM2NhOTZlNTgifQ=="/>
</p:tagLst>
</file>

<file path=ppt/theme/theme1.xml><?xml version="1.0" encoding="utf-8"?>
<a:theme xmlns:a="http://schemas.openxmlformats.org/drawingml/2006/main" name="翰子昂 PPT母版">
  <a:themeElements>
    <a:clrScheme name="翰子昂 PPT母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翰子昂 PPT母版">
      <a:majorFont>
        <a:latin typeface="Arial"/>
        <a:ea typeface="宋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翰子昂 PPT母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翰子昂 PPT母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翰子昂 PPT母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翰子昂 PPT母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翰子昂 PPT母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翰子昂 PPT母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翰子昂 PPT母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翰子昂 PPT母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翰子昂 PPT母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翰子昂 PPT母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翰子昂 PPT母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翰子昂 PPT母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344</Words>
  <Application>Microsoft Office PowerPoint</Application>
  <PresentationFormat>宽屏</PresentationFormat>
  <Paragraphs>50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黑体</vt:lpstr>
      <vt:lpstr>楷体</vt:lpstr>
      <vt:lpstr>楷体_GB2312</vt:lpstr>
      <vt:lpstr>宋体</vt:lpstr>
      <vt:lpstr>微软雅黑</vt:lpstr>
      <vt:lpstr>Arial</vt:lpstr>
      <vt:lpstr>Wingdings</vt:lpstr>
      <vt:lpstr>翰子昂 PPT母版</vt:lpstr>
      <vt:lpstr>软件测试与质量保证 上机安排</vt:lpstr>
      <vt:lpstr>上机1：软件质量需求</vt:lpstr>
      <vt:lpstr>2、软件测试管理</vt:lpstr>
      <vt:lpstr>上机3：单元测试</vt:lpstr>
      <vt:lpstr>上机4：静态分析</vt:lpstr>
      <vt:lpstr>上机5：Postman进行接口测试</vt:lpstr>
      <vt:lpstr>上机6：Jmeter与Badboy</vt:lpstr>
      <vt:lpstr>系统测试报告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dyk</cp:lastModifiedBy>
  <cp:revision>3609</cp:revision>
  <cp:lastPrinted>2113-01-01T00:00:00Z</cp:lastPrinted>
  <dcterms:created xsi:type="dcterms:W3CDTF">2113-01-01T00:00:00Z</dcterms:created>
  <dcterms:modified xsi:type="dcterms:W3CDTF">2025-09-02T12:56:10Z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2052-12.1.0.17147</vt:lpwstr>
  </property>
  <property fmtid="{D5CDD505-2E9C-101B-9397-08002B2CF9AE}" pid="4" name="ICV">
    <vt:lpwstr>31CA306F895C432E8A88CCE0AEEF97D4</vt:lpwstr>
  </property>
</Properties>
</file>